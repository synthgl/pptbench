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2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9.xml" ContentType="application/vnd.openxmlformats-officedocument.presentationml.slideLayout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hart3.xml" ContentType="application/vnd.openxmlformats-officedocument.drawingml.chart+xml"/>
  <Override PartName="/ppt/charts/colors2.xml" ContentType="application/vnd.ms-office.chartcolorstyle+xml"/>
  <Override PartName="/ppt/charts/chart1.xml" ContentType="application/vnd.openxmlformats-officedocument.drawingml.chart+xml"/>
  <Override PartName="/ppt/charts/style1.xml" ContentType="application/vnd.ms-office.chartstyle+xml"/>
  <Override PartName="/ppt/charts/style3.xml" ContentType="application/vnd.ms-office.chartstyle+xml"/>
  <Override PartName="/ppt/charts/colors3.xml" ContentType="application/vnd.ms-office.chartcolorstyl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</p:sldIdLst>
  <p:sldSz cx="9144000" cy="685800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presProps" Target="presProps.xml"/>
</Relationships>
</file>

<file path=ppt/charts/_rels/chart1.xml.rels><?xml version="1.0" encoding="UTF-8"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
</Relationships>
</file>

<file path=ppt/charts/_rels/chart2.xml.rels><?xml version="1.0" encoding="UTF-8"?>
<Relationships xmlns="http://schemas.openxmlformats.org/package/2006/relationships"><Relationship Id="rId1" Type="http://schemas.microsoft.com/office/2011/relationships/chartStyle" Target="style2.xml"/><Relationship Id="rId2" Type="http://schemas.microsoft.com/office/2011/relationships/chartColorStyle" Target="colors2.xml"/>
</Relationships>
</file>

<file path=ppt/charts/_rels/chart3.xml.rels><?xml version="1.0" encoding="UTF-8"?>
<Relationships xmlns="http://schemas.openxmlformats.org/package/2006/relationships"><Relationship Id="rId1" Type="http://schemas.microsoft.com/office/2011/relationships/chartStyle" Target="style3.xml"/><Relationship Id="rId2" Type="http://schemas.microsoft.com/office/2011/relationships/chartColorStyle" Target="colors3.xml"/>
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title>
      <c:tx>
        <c:rich>
          <a:bodyPr rot="0"/>
          <a:lstStyle/>
          <a:p>
            <a:pPr>
              <a:defRPr sz="1300" b="0" u="none" strike="noStrike">
                <a:solidFill>
                  <a:srgbClr val="000000"/>
                </a:solidFill>
                <a:uFillTx/>
                <a:latin typeface="Arial"/>
              </a:defRPr>
            </a:pPr>
            <a:r>
              <a:rPr sz="2160" b="1" u="none" strike="noStrike">
                <a:solidFill>
                  <a:srgbClr val="000000"/>
                </a:solidFill>
                <a:uFillTx/>
                <a:latin typeface="Calibri"/>
              </a:rPr>
              <a:t>Revenue</a:t>
            </a:r>
          </a:p>
        </c:rich>
      </c:tx>
      <c:overlay val="0"/>
      <c:spPr>
        <a:noFill/>
        <a:ln w="0">
          <a:noFill/>
        </a:ln>
      </c:spPr>
    </c:title>
    <c:autoTitleDeleted val="0"/>
    <c:plotArea>
      <c:barChart>
        <c:barDir val="col"/>
        <c:grouping val="cluster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Revenue</c:v>
                </c:pt>
              </c:strCache>
            </c:strRef>
          </c:tx>
          <c:spPr>
            <a:ln w="0">
              <a:noFill/>
            </a:ln>
          </c:spPr>
          <c:invertIfNegative val="0"/>
          <c:dLbls>
            <c:txPr>
              <a:bodyPr wrap="none"/>
              <a:lstStyle/>
              <a:p>
                <a:pPr>
                  <a:defRPr sz="1000" b="0" u="none" strike="noStrik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eparator> </c:separator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3"/>
                <c:pt idx="0">
                  <c:v>East</c:v>
                </c:pt>
                <c:pt idx="1">
                  <c:v>42</c:v>
                </c:pt>
                <c:pt idx="2">
                  <c:v>84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3"/>
                <c:pt idx="0">
                  <c:v>42</c:v>
                </c:pt>
                <c:pt idx="1">
                  <c:v>84</c:v>
                </c:pt>
                <c:pt idx="2">
                  <c:v>126</c:v>
                </c:pt>
              </c:numCache>
            </c:numRef>
          </c:val>
        </c:ser>
        <c:gapWidth val="150"/>
        <c:overlap val="0"/>
        <c:axId val="44004865"/>
        <c:axId val="19290142"/>
      </c:barChart>
      <c:catAx>
        <c:axId val="44004865"/>
        <c:scaling>
          <c:orientation val="minMax"/>
        </c:scaling>
        <c:delete val="0"/>
        <c:axPos val="b"/>
        <c:numFmt formatCode="[$-409]mm/dd/yyyy" sourceLinked="1"/>
        <c:majorTickMark val="out"/>
        <c:minorTickMark val="none"/>
        <c:tickLblPos val="nextTo"/>
        <c:spPr>
          <a:ln w="9360">
            <a:solidFill>
              <a:srgbClr val="878787"/>
            </a:solidFill>
            <a:round/>
          </a:ln>
        </c:spPr>
        <c:txPr>
          <a:bodyPr/>
          <a:lstStyle/>
          <a:p>
            <a:pPr>
              <a:defRPr sz="1800" b="0" u="none" strike="noStrike">
                <a:solidFill>
                  <a:srgbClr val="000000"/>
                </a:solidFill>
                <a:uFillTx/>
                <a:latin typeface="Calibri"/>
              </a:defRPr>
            </a:pPr>
          </a:p>
        </c:txPr>
        <c:crossAx val="19290142"/>
        <c:crosses val="autoZero"/>
        <c:auto val="1"/>
        <c:lblAlgn val="ctr"/>
        <c:lblOffset val="100"/>
        <c:noMultiLvlLbl val="0"/>
      </c:catAx>
      <c:valAx>
        <c:axId val="19290142"/>
        <c:scaling>
          <c:orientation val="minMax"/>
        </c:scaling>
        <c:delete val="0"/>
        <c:axPos val="l"/>
        <c:majorGridlines>
          <c:spPr>
            <a:ln w="9360">
              <a:solidFill>
                <a:srgbClr val="878787"/>
              </a:solidFill>
              <a:round/>
            </a:ln>
          </c:spPr>
        </c:majorGridlines>
        <c:numFmt formatCode="General" sourceLinked="1"/>
        <c:majorTickMark val="out"/>
        <c:minorTickMark val="none"/>
        <c:tickLblPos val="nextTo"/>
        <c:spPr>
          <a:ln w="9360">
            <a:solidFill>
              <a:srgbClr val="878787"/>
            </a:solidFill>
            <a:round/>
          </a:ln>
        </c:spPr>
        <c:txPr>
          <a:bodyPr/>
          <a:lstStyle/>
          <a:p>
            <a:pPr>
              <a:defRPr sz="1800" b="0" u="none" strike="noStrike">
                <a:solidFill>
                  <a:srgbClr val="000000"/>
                </a:solidFill>
                <a:uFillTx/>
                <a:latin typeface="Calibri"/>
              </a:defRPr>
            </a:pPr>
          </a:p>
        </c:txPr>
        <c:crossAx val="44004865"/>
        <c:crosses val="autoZero"/>
        <c:crossBetween val="between"/>
      </c:valAx>
      <c:spPr>
        <a:noFill/>
        <a:ln w="0">
          <a:noFill/>
        </a:ln>
      </c:spPr>
    </c:plotArea>
    <c:plotVisOnly val="1"/>
    <c:dispBlanksAs val="gap"/>
  </c:chart>
  <c:spPr>
    <a:noFill/>
    <a:ln w="0">
      <a:noFill/>
    </a:ln>
  </c:spPr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autoTitleDeleted val="1"/>
    <c:plotArea>
      <c:scatterChart>
        <c:scatterStyle val="lineMarker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Trend</c:v>
                </c:pt>
              </c:strCache>
            </c:strRef>
          </c:tx>
          <c:spPr>
            <a:solidFill>
              <a:srgbClr val="4A7EBB"/>
            </a:solidFill>
            <a:ln w="28440">
              <a:solidFill>
                <a:srgbClr val="4A7EBB"/>
              </a:solidFill>
              <a:round/>
            </a:ln>
          </c:spPr>
          <c:dLbls>
            <c:txPr>
              <a:bodyPr wrap="none"/>
              <a:lstStyle/>
              <a:p>
                <a:pPr>
                  <a:defRPr sz="1000" b="0" u="none" strike="noStrik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eparator> </c:separator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xVal>
            <c:numRef>
              <c:f>1</c:f>
              <c:numCache>
                <c:formatCode>General</c:formatCode>
                <c:ptCount val="3"/>
                <c:pt idx="0">
                  <c:v>5</c:v>
                </c:pt>
                <c:pt idx="1">
                  <c:v>21</c:v>
                </c:pt>
                <c:pt idx="2">
                  <c:v>55</c:v>
                </c:pt>
              </c:numCache>
            </c:numRef>
          </c:xVal>
          <c:yVal>
            <c:numRef>
              <c:f>0</c:f>
              <c:numCache>
                <c:formatCode>General</c:formatCode>
                <c:ptCount val="3"/>
                <c:pt idx="0">
                  <c:v>13</c:v>
                </c:pt>
                <c:pt idx="1">
                  <c:v>34</c:v>
                </c:pt>
                <c:pt idx="2">
                  <c:v>89</c:v>
                </c:pt>
              </c:numCache>
            </c:numRef>
          </c:yVal>
          <c:smooth val="0"/>
        </c:ser>
        <c:axId val="43680672"/>
        <c:axId val="23650026"/>
      </c:scatterChart>
      <c:valAx>
        <c:axId val="43680672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 w="9360">
            <a:solidFill>
              <a:srgbClr val="878787"/>
            </a:solidFill>
            <a:round/>
          </a:ln>
        </c:spPr>
        <c:txPr>
          <a:bodyPr/>
          <a:lstStyle/>
          <a:p>
            <a:pPr>
              <a:defRPr sz="1800" b="0" u="none" strike="noStrike">
                <a:solidFill>
                  <a:srgbClr val="000000"/>
                </a:solidFill>
                <a:uFillTx/>
                <a:latin typeface="Calibri"/>
              </a:defRPr>
            </a:pPr>
          </a:p>
        </c:txPr>
        <c:crossAx val="23650026"/>
        <c:crosses val="autoZero"/>
        <c:crossBetween val="midCat"/>
      </c:valAx>
      <c:valAx>
        <c:axId val="23650026"/>
        <c:scaling>
          <c:orientation val="minMax"/>
        </c:scaling>
        <c:delete val="0"/>
        <c:axPos val="l"/>
        <c:majorGridlines>
          <c:spPr>
            <a:ln w="9360">
              <a:solidFill>
                <a:srgbClr val="878787"/>
              </a:solidFill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9360">
            <a:solidFill>
              <a:srgbClr val="878787"/>
            </a:solidFill>
            <a:round/>
          </a:ln>
        </c:spPr>
        <c:txPr>
          <a:bodyPr/>
          <a:lstStyle/>
          <a:p>
            <a:pPr>
              <a:defRPr sz="1800" b="0" u="none" strike="noStrike">
                <a:solidFill>
                  <a:srgbClr val="000000"/>
                </a:solidFill>
                <a:uFillTx/>
                <a:latin typeface="Calibri"/>
              </a:defRPr>
            </a:pPr>
          </a:p>
        </c:txPr>
        <c:crossAx val="43680672"/>
        <c:crosses val="autoZero"/>
        <c:crossBetween val="midCat"/>
      </c:valAx>
      <c:spPr>
        <a:noFill/>
        <a:ln w="0">
          <a:noFill/>
        </a:ln>
      </c:spPr>
    </c:plotArea>
    <c:legend>
      <c:legendPos val="r"/>
      <c:overlay val="0"/>
      <c:spPr>
        <a:noFill/>
        <a:ln w="0">
          <a:noFill/>
        </a:ln>
      </c:spPr>
      <c:txPr>
        <a:bodyPr/>
        <a:lstStyle/>
        <a:p>
          <a:pPr>
            <a:defRPr sz="1800" b="0" u="none" strike="noStrike">
              <a:solidFill>
                <a:srgbClr val="000000"/>
              </a:solidFill>
              <a:uFillTx/>
              <a:latin typeface="Calibri"/>
            </a:defRPr>
          </a:pPr>
        </a:p>
      </c:txPr>
    </c:legend>
    <c:plotVisOnly val="1"/>
    <c:dispBlanksAs val="gap"/>
  </c:chart>
  <c:spPr>
    <a:noFill/>
    <a:ln w="0">
      <a:noFill/>
    </a:ln>
  </c:spPr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title>
      <c:tx>
        <c:rich>
          <a:bodyPr rot="0"/>
          <a:lstStyle/>
          <a:p>
            <a:pPr>
              <a:defRPr sz="1300" b="0" u="none" strike="noStrike">
                <a:solidFill>
                  <a:srgbClr val="000000"/>
                </a:solidFill>
                <a:uFillTx/>
                <a:latin typeface="Arial"/>
              </a:defRPr>
            </a:pPr>
            <a:r>
              <a:rPr sz="2160" b="1" u="none" strike="noStrike">
                <a:solidFill>
                  <a:srgbClr val="000000"/>
                </a:solidFill>
                <a:uFillTx/>
                <a:latin typeface="Calibri"/>
              </a:rPr>
              <a:t>Pipeline</a:t>
            </a:r>
          </a:p>
        </c:rich>
      </c:tx>
      <c:overlay val="0"/>
      <c:spPr>
        <a:noFill/>
        <a:ln w="0">
          <a:noFill/>
        </a:ln>
      </c:spPr>
    </c:title>
    <c:autoTitleDeleted val="0"/>
    <c:plotArea>
      <c:bubbleChart>
        <c:varyColors val="0"/>
        <c:ser>
          <c:idx val="0"/>
          <c:order val="0"/>
          <c:tx>
            <c:strRef>
              <c:f>label 2</c:f>
              <c:strCache>
                <c:ptCount val="1"/>
                <c:pt idx="0">
                  <c:v>Pipeline</c:v>
                </c:pt>
              </c:strCache>
            </c:strRef>
          </c:tx>
          <c:spPr>
            <a:ln w="0">
              <a:noFill/>
            </a:ln>
          </c:spPr>
          <c:invertIfNegative val="0"/>
          <c:dLbls>
            <c:txPr>
              <a:bodyPr wrap="square"/>
              <a:lstStyle/>
              <a:p>
                <a:pPr>
                  <a:defRPr sz="1800" b="0" u="none" strike="noStrike">
                    <a:solidFill>
                      <a:srgbClr val="000000"/>
                    </a:solidFill>
                    <a:uFillTx/>
                    <a:latin typeface="Calibri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eparator>; </c:separator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xVal>
            <c:numRef>
              <c:f>1</c:f>
              <c:numCache>
                <c:formatCode>General</c:formatCode>
                <c:ptCount val="3"/>
                <c:pt idx="0">
                  <c:v>5</c:v>
                </c:pt>
                <c:pt idx="1">
                  <c:v>34</c:v>
                </c:pt>
                <c:pt idx="2">
                  <c:v>8</c:v>
                </c:pt>
              </c:numCache>
            </c:numRef>
          </c:xVal>
          <c:yVal>
            <c:numRef>
              <c:f>0</c:f>
              <c:numCache>
                <c:formatCode>General</c:formatCode>
                <c:ptCount val="3"/>
                <c:pt idx="0">
                  <c:v>13</c:v>
                </c:pt>
                <c:pt idx="1">
                  <c:v>55</c:v>
                </c:pt>
                <c:pt idx="2">
                  <c:v>13</c:v>
                </c:pt>
              </c:numCache>
            </c:numRef>
          </c:yVal>
          <c:bubbleSize>
            <c:numRef>
              <c:f>2</c:f>
              <c:numCache>
                <c:formatCode>General</c:formatCode>
                <c:ptCount val="3"/>
                <c:pt idx="0">
                  <c:v>21</c:v>
                </c:pt>
                <c:pt idx="1">
                  <c:v>89</c:v>
                </c:pt>
                <c:pt idx="2">
                  <c:v>21</c:v>
                </c:pt>
              </c:numCache>
            </c:numRef>
          </c:bubbleSize>
          <c:bubble3D val="0"/>
        </c:ser>
        <c:axId val="98852163"/>
        <c:axId val="71001695"/>
      </c:bubbleChart>
      <c:valAx>
        <c:axId val="98852163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 w="9360">
            <a:solidFill>
              <a:srgbClr val="878787"/>
            </a:solidFill>
            <a:round/>
          </a:ln>
        </c:spPr>
        <c:txPr>
          <a:bodyPr/>
          <a:lstStyle/>
          <a:p>
            <a:pPr>
              <a:defRPr sz="1800" b="0" u="none" strike="noStrike">
                <a:solidFill>
                  <a:srgbClr val="000000"/>
                </a:solidFill>
                <a:uFillTx/>
                <a:latin typeface="Calibri"/>
              </a:defRPr>
            </a:pPr>
          </a:p>
        </c:txPr>
        <c:crossAx val="71001695"/>
        <c:crosses val="autoZero"/>
        <c:crossBetween val="midCat"/>
      </c:valAx>
      <c:valAx>
        <c:axId val="71001695"/>
        <c:scaling>
          <c:orientation val="minMax"/>
        </c:scaling>
        <c:delete val="0"/>
        <c:axPos val="l"/>
        <c:majorGridlines>
          <c:spPr>
            <a:ln w="9360">
              <a:solidFill>
                <a:srgbClr val="878787"/>
              </a:solidFill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9360">
            <a:solidFill>
              <a:srgbClr val="878787"/>
            </a:solidFill>
            <a:round/>
          </a:ln>
        </c:spPr>
        <c:txPr>
          <a:bodyPr/>
          <a:lstStyle/>
          <a:p>
            <a:pPr>
              <a:defRPr sz="1800" b="0" u="none" strike="noStrike">
                <a:solidFill>
                  <a:srgbClr val="000000"/>
                </a:solidFill>
                <a:uFillTx/>
                <a:latin typeface="Calibri"/>
              </a:defRPr>
            </a:pPr>
          </a:p>
        </c:txPr>
        <c:crossAx val="98852163"/>
        <c:crosses val="autoZero"/>
        <c:crossBetween val="midCat"/>
      </c:valAx>
      <c:spPr>
        <a:noFill/>
        <a:ln w="0">
          <a:noFill/>
        </a:ln>
      </c:spPr>
    </c:plotArea>
    <c:legend>
      <c:legendPos val="r"/>
      <c:overlay val="0"/>
      <c:spPr>
        <a:noFill/>
        <a:ln w="0">
          <a:noFill/>
        </a:ln>
      </c:spPr>
      <c:txPr>
        <a:bodyPr/>
        <a:lstStyle/>
        <a:p>
          <a:pPr>
            <a:defRPr sz="1800" b="0" u="none" strike="noStrike">
              <a:solidFill>
                <a:srgbClr val="000000"/>
              </a:solidFill>
              <a:uFillTx/>
              <a:latin typeface="Calibri"/>
            </a:defRPr>
          </a:pPr>
        </a:p>
      </c:txPr>
    </c:legend>
    <c:plotVisOnly val="1"/>
    <c:dispBlanksAs val="gap"/>
  </c:chart>
  <c:spPr>
    <a:noFill/>
    <a:ln w="0">
      <a:noFill/>
    </a:ln>
  </c:spPr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</cs:colorStyle>
</file>

<file path=ppt/charts/style1.xml><?xml version="1.0" encoding="utf-8"?>
<cs:chartStyle xmlns:cs="http://schemas.microsoft.com/office/drawing/2012/chartStyle" xmlns:a="http://schemas.openxmlformats.org/drawingml/2006/main" id="419">
  <cs:axisTitle>
    <cs:lnRef idx="0"/>
    <cs:fillRef idx="0"/>
    <cs:effectRef idx="0"/>
    <cs:fontRef idx="minor"/>
  </cs:axisTitle>
  <cs:categoryAxis>
    <cs:lnRef idx="0"/>
    <cs:fillRef idx="0"/>
    <cs:effectRef idx="0"/>
    <cs:fontRef idx="minor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chartArea>
  <cs:dataLabel>
    <cs:lnRef idx="0"/>
    <cs:fillRef idx="0"/>
    <cs:effectRef idx="0"/>
    <cs:fontRef idx="minor"/>
  </cs:dataLabel>
  <cs:dataPoint>
    <cs:lnRef idx="0"/>
    <cs:fillRef idx="0">
      <cs:styleClr val="auto"/>
    </cs:fillRef>
    <cs:effectRef idx="0"/>
    <cs:fontRef idx="minor">
      <cs:schemeClr val="tx1"/>
    </cs:fontRef>
    <cs:spPr>
      <a:solidFill>
        <a:schemeClr val="phClr"/>
      </a:solidFill>
    </cs:spPr>
  </cs:dataPoint>
  <cs:dataPoint3D>
    <cs:lnRef idx="0"/>
    <cs:fillRef idx="0"/>
    <cs:effectRef idx="0"/>
    <cs:fontRef idx="minor"/>
  </cs:dataPoint3D>
  <cs:dataPointLine>
    <cs:lnRef idx="0"/>
    <cs:fillRef idx="0"/>
    <cs:effectRef idx="0"/>
    <cs:fontRef idx="minor"/>
  </cs:dataPointLine>
  <cs:dataPointMarker>
    <cs:lnRef idx="0"/>
    <cs:fillRef idx="0"/>
    <cs:effectRef idx="0"/>
    <cs:fontRef idx="minor"/>
  </cs:dataPointMarker>
  <cs:dataPointMarkerLayout>
    <cs:lnRef idx="0"/>
    <cs:fillRef idx="0"/>
    <cs:effectRef idx="0"/>
    <cs:fontRef idx="minor"/>
  </cs:dataPointMarkerLayout>
  <cs:dataPointWireframe>
    <cs:lnRef idx="0"/>
    <cs:fillRef idx="0"/>
    <cs:effectRef idx="0"/>
    <cs:fontRef idx="minor"/>
  </cs:dataPointWireframe>
  <cs:dataTable>
    <cs:lnRef idx="0"/>
    <cs:fillRef idx="0"/>
    <cs:effectRef idx="0"/>
    <cs:fontRef idx="minor"/>
  </cs:dataTable>
  <cs:downBar>
    <cs:lnRef idx="0"/>
    <cs:fillRef idx="0"/>
    <cs:effectRef idx="0"/>
    <cs:fontRef idx="minor"/>
  </cs:downBar>
  <cs:dropLine>
    <cs:lnRef idx="0"/>
    <cs:fillRef idx="0"/>
    <cs:effectRef idx="0"/>
    <cs:fontRef idx="minor"/>
  </cs:dropLine>
  <cs:errorBar>
    <cs:lnRef idx="0"/>
    <cs:fillRef idx="0"/>
    <cs:effectRef idx="0"/>
    <cs:fontRef idx="minor"/>
  </cs:errorBar>
  <cs:floor>
    <cs:lnRef idx="0"/>
    <cs:fillRef idx="0"/>
    <cs:effectRef idx="0"/>
    <cs:fontRef idx="minor"/>
  </cs:floor>
  <cs:gridlineMajor>
    <cs:lnRef idx="0"/>
    <cs:fillRef idx="0"/>
    <cs:effectRef idx="0"/>
    <cs:fontRef idx="minor"/>
  </cs:gridlineMajor>
  <cs:gridlineMinor>
    <cs:lnRef idx="0"/>
    <cs:fillRef idx="0"/>
    <cs:effectRef idx="0"/>
    <cs:fontRef idx="minor"/>
  </cs:gridlineMinor>
  <cs:hiLoLine>
    <cs:lnRef idx="0"/>
    <cs:fillRef idx="0"/>
    <cs:effectRef idx="0"/>
    <cs:fontRef idx="minor"/>
  </cs:hiLoLine>
  <cs:leaderLine>
    <cs:lnRef idx="0"/>
    <cs:fillRef idx="0"/>
    <cs:effectRef idx="0"/>
    <cs:fontRef idx="minor"/>
  </cs:leaderLine>
  <cs:legend>
    <cs:lnRef idx="0"/>
    <cs:fillRef idx="0"/>
    <cs:effectRef idx="0"/>
    <cs:fontRef idx="minor"/>
  </cs:legend>
  <cs:plotArea>
    <cs:lnRef idx="0"/>
    <cs:fillRef idx="0"/>
    <cs:effectRef idx="0"/>
    <cs:fontRef idx="minor"/>
  </cs:plotArea>
  <cs:plotArea3D>
    <cs:lnRef idx="0"/>
    <cs:fillRef idx="0"/>
    <cs:effectRef idx="0"/>
    <cs:fontRef idx="minor"/>
  </cs:plotArea3D>
  <cs:seriesAxis>
    <cs:lnRef idx="0"/>
    <cs:fillRef idx="0"/>
    <cs:effectRef idx="0"/>
    <cs:fontRef idx="minor"/>
  </cs:seriesAxis>
  <cs:seriesLine>
    <cs:lnRef idx="0"/>
    <cs:fillRef idx="0"/>
    <cs:effectRef idx="0"/>
    <cs:fontRef idx="minor"/>
  </cs:seriesLine>
  <cs:title>
    <cs:lnRef idx="0"/>
    <cs:fillRef idx="0"/>
    <cs:effectRef idx="0"/>
    <cs:fontRef idx="minor"/>
  </cs:title>
  <cs:trendline>
    <cs:lnRef idx="0"/>
    <cs:fillRef idx="0"/>
    <cs:effectRef idx="0"/>
    <cs:fontRef idx="minor"/>
  </cs:trendline>
  <cs:trendlineLabel>
    <cs:lnRef idx="0"/>
    <cs:fillRef idx="0"/>
    <cs:effectRef idx="0"/>
    <cs:fontRef idx="minor"/>
  </cs:trendlineLabel>
  <cs:upBar>
    <cs:lnRef idx="0"/>
    <cs:fillRef idx="0"/>
    <cs:effectRef idx="0"/>
    <cs:fontRef idx="minor"/>
  </cs:upBar>
  <cs:valueAxis>
    <cs:lnRef idx="0"/>
    <cs:fillRef idx="0"/>
    <cs:effectRef idx="0"/>
    <cs:fontRef idx="minor"/>
  </cs:valueAxis>
  <cs:wall>
    <cs:lnRef idx="0"/>
    <cs:fillRef idx="0"/>
    <cs:effectRef idx="0"/>
    <cs:fontRef idx="minor"/>
  </cs:wall>
</cs:chartStyle>
</file>

<file path=ppt/charts/style2.xml><?xml version="1.0" encoding="utf-8"?>
<cs:chartStyle xmlns:cs="http://schemas.microsoft.com/office/drawing/2012/chartStyle" xmlns:a="http://schemas.openxmlformats.org/drawingml/2006/main" id="419">
  <cs:axisTitle>
    <cs:lnRef idx="0"/>
    <cs:fillRef idx="0"/>
    <cs:effectRef idx="0"/>
    <cs:fontRef idx="minor"/>
  </cs:axisTitle>
  <cs:categoryAxis>
    <cs:lnRef idx="0"/>
    <cs:fillRef idx="0"/>
    <cs:effectRef idx="0"/>
    <cs:fontRef idx="minor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chartArea>
  <cs:dataLabel>
    <cs:lnRef idx="0"/>
    <cs:fillRef idx="0"/>
    <cs:effectRef idx="0"/>
    <cs:fontRef idx="minor"/>
  </cs:dataLabel>
  <cs:dataPoint>
    <cs:lnRef idx="0"/>
    <cs:fillRef idx="0">
      <cs:styleClr val="auto"/>
    </cs:fillRef>
    <cs:effectRef idx="0"/>
    <cs:fontRef idx="minor">
      <cs:schemeClr val="tx1"/>
    </cs:fontRef>
    <cs:spPr>
      <a:solidFill>
        <a:schemeClr val="phClr"/>
      </a:solidFill>
    </cs:spPr>
  </cs:dataPoint>
  <cs:dataPoint3D>
    <cs:lnRef idx="0"/>
    <cs:fillRef idx="0"/>
    <cs:effectRef idx="0"/>
    <cs:fontRef idx="minor"/>
  </cs:dataPoint3D>
  <cs:dataPointLine>
    <cs:lnRef idx="0"/>
    <cs:fillRef idx="0"/>
    <cs:effectRef idx="0"/>
    <cs:fontRef idx="minor"/>
  </cs:dataPointLine>
  <cs:dataPointMarker>
    <cs:lnRef idx="0"/>
    <cs:fillRef idx="0"/>
    <cs:effectRef idx="0"/>
    <cs:fontRef idx="minor"/>
  </cs:dataPointMarker>
  <cs:dataPointMarkerLayout>
    <cs:lnRef idx="0"/>
    <cs:fillRef idx="0"/>
    <cs:effectRef idx="0"/>
    <cs:fontRef idx="minor"/>
  </cs:dataPointMarkerLayout>
  <cs:dataPointWireframe>
    <cs:lnRef idx="0"/>
    <cs:fillRef idx="0"/>
    <cs:effectRef idx="0"/>
    <cs:fontRef idx="minor"/>
  </cs:dataPointWireframe>
  <cs:dataTable>
    <cs:lnRef idx="0"/>
    <cs:fillRef idx="0"/>
    <cs:effectRef idx="0"/>
    <cs:fontRef idx="minor"/>
  </cs:dataTable>
  <cs:downBar>
    <cs:lnRef idx="0"/>
    <cs:fillRef idx="0"/>
    <cs:effectRef idx="0"/>
    <cs:fontRef idx="minor"/>
  </cs:downBar>
  <cs:dropLine>
    <cs:lnRef idx="0"/>
    <cs:fillRef idx="0"/>
    <cs:effectRef idx="0"/>
    <cs:fontRef idx="minor"/>
  </cs:dropLine>
  <cs:errorBar>
    <cs:lnRef idx="0"/>
    <cs:fillRef idx="0"/>
    <cs:effectRef idx="0"/>
    <cs:fontRef idx="minor"/>
  </cs:errorBar>
  <cs:floor>
    <cs:lnRef idx="0"/>
    <cs:fillRef idx="0"/>
    <cs:effectRef idx="0"/>
    <cs:fontRef idx="minor"/>
  </cs:floor>
  <cs:gridlineMajor>
    <cs:lnRef idx="0"/>
    <cs:fillRef idx="0"/>
    <cs:effectRef idx="0"/>
    <cs:fontRef idx="minor"/>
  </cs:gridlineMajor>
  <cs:gridlineMinor>
    <cs:lnRef idx="0"/>
    <cs:fillRef idx="0"/>
    <cs:effectRef idx="0"/>
    <cs:fontRef idx="minor"/>
  </cs:gridlineMinor>
  <cs:hiLoLine>
    <cs:lnRef idx="0"/>
    <cs:fillRef idx="0"/>
    <cs:effectRef idx="0"/>
    <cs:fontRef idx="minor"/>
  </cs:hiLoLine>
  <cs:leaderLine>
    <cs:lnRef idx="0"/>
    <cs:fillRef idx="0"/>
    <cs:effectRef idx="0"/>
    <cs:fontRef idx="minor"/>
  </cs:leaderLine>
  <cs:legend>
    <cs:lnRef idx="0"/>
    <cs:fillRef idx="0"/>
    <cs:effectRef idx="0"/>
    <cs:fontRef idx="minor"/>
  </cs:legend>
  <cs:plotArea>
    <cs:lnRef idx="0"/>
    <cs:fillRef idx="0"/>
    <cs:effectRef idx="0"/>
    <cs:fontRef idx="minor"/>
  </cs:plotArea>
  <cs:plotArea3D>
    <cs:lnRef idx="0"/>
    <cs:fillRef idx="0"/>
    <cs:effectRef idx="0"/>
    <cs:fontRef idx="minor"/>
  </cs:plotArea3D>
  <cs:seriesAxis>
    <cs:lnRef idx="0"/>
    <cs:fillRef idx="0"/>
    <cs:effectRef idx="0"/>
    <cs:fontRef idx="minor"/>
  </cs:seriesAxis>
  <cs:seriesLine>
    <cs:lnRef idx="0"/>
    <cs:fillRef idx="0"/>
    <cs:effectRef idx="0"/>
    <cs:fontRef idx="minor"/>
  </cs:seriesLine>
  <cs:title>
    <cs:lnRef idx="0"/>
    <cs:fillRef idx="0"/>
    <cs:effectRef idx="0"/>
    <cs:fontRef idx="minor"/>
  </cs:title>
  <cs:trendline>
    <cs:lnRef idx="0"/>
    <cs:fillRef idx="0"/>
    <cs:effectRef idx="0"/>
    <cs:fontRef idx="minor"/>
  </cs:trendline>
  <cs:trendlineLabel>
    <cs:lnRef idx="0"/>
    <cs:fillRef idx="0"/>
    <cs:effectRef idx="0"/>
    <cs:fontRef idx="minor"/>
  </cs:trendlineLabel>
  <cs:upBar>
    <cs:lnRef idx="0"/>
    <cs:fillRef idx="0"/>
    <cs:effectRef idx="0"/>
    <cs:fontRef idx="minor"/>
  </cs:upBar>
  <cs:valueAxis>
    <cs:lnRef idx="0"/>
    <cs:fillRef idx="0"/>
    <cs:effectRef idx="0"/>
    <cs:fontRef idx="minor"/>
  </cs:valueAxis>
  <cs:wall>
    <cs:lnRef idx="0"/>
    <cs:fillRef idx="0"/>
    <cs:effectRef idx="0"/>
    <cs:fontRef idx="minor"/>
  </cs:wall>
</cs:chartStyle>
</file>

<file path=ppt/charts/style3.xml><?xml version="1.0" encoding="utf-8"?>
<cs:chartStyle xmlns:cs="http://schemas.microsoft.com/office/drawing/2012/chartStyle" xmlns:a="http://schemas.openxmlformats.org/drawingml/2006/main" id="419">
  <cs:axisTitle>
    <cs:lnRef idx="0"/>
    <cs:fillRef idx="0"/>
    <cs:effectRef idx="0"/>
    <cs:fontRef idx="minor"/>
  </cs:axisTitle>
  <cs:categoryAxis>
    <cs:lnRef idx="0"/>
    <cs:fillRef idx="0"/>
    <cs:effectRef idx="0"/>
    <cs:fontRef idx="minor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chartArea>
  <cs:dataLabel>
    <cs:lnRef idx="0"/>
    <cs:fillRef idx="0"/>
    <cs:effectRef idx="0"/>
    <cs:fontRef idx="minor"/>
  </cs:dataLabel>
  <cs:dataPoint>
    <cs:lnRef idx="0"/>
    <cs:fillRef idx="0">
      <cs:styleClr val="auto"/>
    </cs:fillRef>
    <cs:effectRef idx="0"/>
    <cs:fontRef idx="minor">
      <cs:schemeClr val="tx1"/>
    </cs:fontRef>
    <cs:spPr>
      <a:solidFill>
        <a:schemeClr val="phClr"/>
      </a:solidFill>
    </cs:spPr>
  </cs:dataPoint>
  <cs:dataPoint3D>
    <cs:lnRef idx="0"/>
    <cs:fillRef idx="0"/>
    <cs:effectRef idx="0"/>
    <cs:fontRef idx="minor"/>
  </cs:dataPoint3D>
  <cs:dataPointLine>
    <cs:lnRef idx="0"/>
    <cs:fillRef idx="0"/>
    <cs:effectRef idx="0"/>
    <cs:fontRef idx="minor"/>
  </cs:dataPointLine>
  <cs:dataPointMarker>
    <cs:lnRef idx="0"/>
    <cs:fillRef idx="0"/>
    <cs:effectRef idx="0"/>
    <cs:fontRef idx="minor"/>
  </cs:dataPointMarker>
  <cs:dataPointMarkerLayout>
    <cs:lnRef idx="0"/>
    <cs:fillRef idx="0"/>
    <cs:effectRef idx="0"/>
    <cs:fontRef idx="minor"/>
  </cs:dataPointMarkerLayout>
  <cs:dataPointWireframe>
    <cs:lnRef idx="0"/>
    <cs:fillRef idx="0"/>
    <cs:effectRef idx="0"/>
    <cs:fontRef idx="minor"/>
  </cs:dataPointWireframe>
  <cs:dataTable>
    <cs:lnRef idx="0"/>
    <cs:fillRef idx="0"/>
    <cs:effectRef idx="0"/>
    <cs:fontRef idx="minor"/>
  </cs:dataTable>
  <cs:downBar>
    <cs:lnRef idx="0"/>
    <cs:fillRef idx="0"/>
    <cs:effectRef idx="0"/>
    <cs:fontRef idx="minor"/>
  </cs:downBar>
  <cs:dropLine>
    <cs:lnRef idx="0"/>
    <cs:fillRef idx="0"/>
    <cs:effectRef idx="0"/>
    <cs:fontRef idx="minor"/>
  </cs:dropLine>
  <cs:errorBar>
    <cs:lnRef idx="0"/>
    <cs:fillRef idx="0"/>
    <cs:effectRef idx="0"/>
    <cs:fontRef idx="minor"/>
  </cs:errorBar>
  <cs:floor>
    <cs:lnRef idx="0"/>
    <cs:fillRef idx="0"/>
    <cs:effectRef idx="0"/>
    <cs:fontRef idx="minor"/>
  </cs:floor>
  <cs:gridlineMajor>
    <cs:lnRef idx="0"/>
    <cs:fillRef idx="0"/>
    <cs:effectRef idx="0"/>
    <cs:fontRef idx="minor"/>
  </cs:gridlineMajor>
  <cs:gridlineMinor>
    <cs:lnRef idx="0"/>
    <cs:fillRef idx="0"/>
    <cs:effectRef idx="0"/>
    <cs:fontRef idx="minor"/>
  </cs:gridlineMinor>
  <cs:hiLoLine>
    <cs:lnRef idx="0"/>
    <cs:fillRef idx="0"/>
    <cs:effectRef idx="0"/>
    <cs:fontRef idx="minor"/>
  </cs:hiLoLine>
  <cs:leaderLine>
    <cs:lnRef idx="0"/>
    <cs:fillRef idx="0"/>
    <cs:effectRef idx="0"/>
    <cs:fontRef idx="minor"/>
  </cs:leaderLine>
  <cs:legend>
    <cs:lnRef idx="0"/>
    <cs:fillRef idx="0"/>
    <cs:effectRef idx="0"/>
    <cs:fontRef idx="minor"/>
  </cs:legend>
  <cs:plotArea>
    <cs:lnRef idx="0"/>
    <cs:fillRef idx="0"/>
    <cs:effectRef idx="0"/>
    <cs:fontRef idx="minor"/>
  </cs:plotArea>
  <cs:plotArea3D>
    <cs:lnRef idx="0"/>
    <cs:fillRef idx="0"/>
    <cs:effectRef idx="0"/>
    <cs:fontRef idx="minor"/>
  </cs:plotArea3D>
  <cs:seriesAxis>
    <cs:lnRef idx="0"/>
    <cs:fillRef idx="0"/>
    <cs:effectRef idx="0"/>
    <cs:fontRef idx="minor"/>
  </cs:seriesAxis>
  <cs:seriesLine>
    <cs:lnRef idx="0"/>
    <cs:fillRef idx="0"/>
    <cs:effectRef idx="0"/>
    <cs:fontRef idx="minor"/>
  </cs:seriesLine>
  <cs:title>
    <cs:lnRef idx="0"/>
    <cs:fillRef idx="0"/>
    <cs:effectRef idx="0"/>
    <cs:fontRef idx="minor"/>
  </cs:title>
  <cs:trendline>
    <cs:lnRef idx="0"/>
    <cs:fillRef idx="0"/>
    <cs:effectRef idx="0"/>
    <cs:fontRef idx="minor"/>
  </cs:trendline>
  <cs:trendlineLabel>
    <cs:lnRef idx="0"/>
    <cs:fillRef idx="0"/>
    <cs:effectRef idx="0"/>
    <cs:fontRef idx="minor"/>
  </cs:trendlineLabel>
  <cs:upBar>
    <cs:lnRef idx="0"/>
    <cs:fillRef idx="0"/>
    <cs:effectRef idx="0"/>
    <cs:fontRef idx="minor"/>
  </cs:upBar>
  <cs:valueAxis>
    <cs:lnRef idx="0"/>
    <cs:fillRef idx="0"/>
    <cs:effectRef idx="0"/>
    <cs:fontRef idx="minor"/>
  </cs:valueAxis>
  <cs:wall>
    <cs:lnRef idx="0"/>
    <cs:fillRef idx="0"/>
    <cs:effectRef idx="0"/>
    <cs:fontRef idx="minor"/>
  </cs:wall>
</cs:chartStyle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1E3D12F6-E6E7-4AB9-ACC4-8DB54B458DD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D1844324-4BB3-4E73-A74A-FFB0518DC23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7040" cy="5851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 vert="eaVert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560" cy="5851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27CD9282-6E1F-4AA4-9399-ACAD637F4A8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B5558CC9-774C-4267-85DB-88C6DC51FA6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000" b="1" u="none" strike="noStrike" cap="all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  <a:def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000" b="0" u="none" strike="noStrike">
              <a:solidFill>
                <a:schemeClr val="dk1">
                  <a:tint val="75000"/>
                </a:schemeClr>
              </a:solidFill>
              <a:effectLst/>
              <a:uFillTx/>
              <a:latin typeface="Calibri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D1C3D1CB-91F2-46BF-B841-E9B18516089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A66B6407-8F88-4230-9882-57AAC291F64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2ABC6D31-8893-41AB-AC98-F9FAD1081F9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8A8F9C92-27FC-4829-AD60-ECBA22B86CF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BD6BD76E-8741-4B50-876A-E9C620E9062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 defTabSz="457200"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457200"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343080" indent="-343080" algn="l" defTabSz="457200"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FCC8B273-9D60-4AB3-803F-08744BEFB70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pic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p>
            <a:pPr indent="0" algn="l">
              <a:buNone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Double-click to add an Image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FB2960D7-7CF3-4109-A3F3-190EA825126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9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chart" Target="../charts/chart2.xml"/><Relationship Id="rId2" Type="http://schemas.openxmlformats.org/officeDocument/2006/relationships/slideLayout" Target="../slideLayouts/slideLayout9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chart" Target="../charts/chart3.xml"/><Relationship Id="rId2" Type="http://schemas.openxmlformats.org/officeDocument/2006/relationships/slideLayout" Target="../slideLayouts/slideLayout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1" name="Chart 1"/>
          <p:cNvGraphicFramePr/>
          <p:nvPr/>
        </p:nvGraphicFramePr>
        <p:xfrm>
          <a:off x="457200" y="457200"/>
          <a:ext cx="7314840" cy="3657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2" name="Chart 1"/>
          <p:cNvGraphicFramePr/>
          <p:nvPr/>
        </p:nvGraphicFramePr>
        <p:xfrm>
          <a:off x="457200" y="457200"/>
          <a:ext cx="7314840" cy="3657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3" name="Chart 1"/>
          <p:cNvGraphicFramePr/>
          <p:nvPr/>
        </p:nvGraphicFramePr>
        <p:xfrm>
          <a:off x="457200" y="457200"/>
          <a:ext cx="7314840" cy="3657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itchFamily="0" charset="1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</TotalTime>
  <Application>LibreOffice/26.8.0.3$MacOSX_AARCH64 LibreOffice_project/bce0998afefdbc355585ca324285661a2170ba77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1980-01-01T00:00:00Z</dcterms:created>
  <dc:creator/>
  <dc:description>generated using python-pptx</dc:description>
  <dc:language>en-US</dc:language>
  <cp:lastModifiedBy>Steve Canny</cp:lastModifiedBy>
  <dcterms:modified xsi:type="dcterms:W3CDTF">1980-01-01T00:00:00Z</dcterms:modified>
  <cp:revision>1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